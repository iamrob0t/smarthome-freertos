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9" r:id="rId3"/>
    <p:sldId id="257" r:id="rId4"/>
    <p:sldId id="258" r:id="rId5"/>
    <p:sldId id="260" r:id="rId6"/>
    <p:sldId id="26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7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A79747-C848-480F-8F3E-69FE9EDFF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BCEB399-670C-4536-8AB5-B52261BFB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805C88-2913-4024-8EEB-ED4026400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3F87-2658-4A3E-B447-8307D4A3E0CD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DB7F83-E560-4462-8766-7C52DA044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02A67E-6F6E-4728-86E9-942C853EE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86A87-6FE7-417F-B295-3A58055269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210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3B136-D34F-4C7E-A4B7-DB8A9931A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837C5E-1B5F-41F1-A588-F89DE2E9E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EC8A38-9997-440F-BD14-FEADABF56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3F87-2658-4A3E-B447-8307D4A3E0CD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9B7802-CAE1-46DF-9792-3C36E80EB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97C79D-1BE9-4955-A60C-B18BCA8B8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86A87-6FE7-417F-B295-3A58055269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688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8F54D-1B4B-4750-9618-7AED38A20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935E35-04C4-481D-9F4B-F39E3FC21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789602-7531-4ADC-8CBD-154D1D393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3F87-2658-4A3E-B447-8307D4A3E0CD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6512FB-7A0A-4DAD-B26D-2B64F07F6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00DD8C-93D0-438B-975E-7E6701424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86A87-6FE7-417F-B295-3A58055269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125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FCCF95-7D15-4EB8-ADDA-99E2D27E6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5DC6D6-AA6C-44C5-AE7A-83F045408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B4FAA0-46DE-4CA7-945A-F1EFFCB28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4C5A9A-8454-49A7-A705-73B46FBE0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3F87-2658-4A3E-B447-8307D4A3E0CD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296281-A000-4A84-A30B-777F0B9D7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1CE952-0976-4373-9BBD-CE63A9B8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86A87-6FE7-417F-B295-3A58055269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015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1EF6A4-D01D-4769-970C-77E3CD797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D43B15-69A1-4D9C-9448-0ED0307B8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033086-321D-4681-A5AD-3E5141BFD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7662C15-407C-4232-9A8E-C2B75E20E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AEA96DC-5F23-4162-A81B-3E2809CEB0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A6B553B-24F7-4D29-83A2-099DF62CF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3F87-2658-4A3E-B447-8307D4A3E0CD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B26092-BE3A-417A-84DC-5DD89F9F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6169C0A-28E2-4460-842C-05D436C71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86A87-6FE7-417F-B295-3A58055269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560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2D8268-732B-4493-BBAE-C6C6F9D5B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92F954-2742-4AF4-9A30-49D6C05F4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3F87-2658-4A3E-B447-8307D4A3E0CD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5E9204-A983-45D0-B33E-C4B9FC2E6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9BCAA3-72BC-42B1-9007-000D24E79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86A87-6FE7-417F-B295-3A58055269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777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18A56E-7BE2-48F3-9701-6B731735A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3F87-2658-4A3E-B447-8307D4A3E0CD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2FBE51-A8EC-42C2-AEAF-6C999FB77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FE7D4B-453F-42B7-8A8D-FF007874D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86A87-6FE7-417F-B295-3A58055269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981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46651C-6CEA-4F86-8080-CB8E012B5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0972B8-A46A-440F-8059-74D975536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2EEA29-F4EE-4BF3-BA10-D4E3CB0D3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A8240A-2192-4698-89C9-BF09F636E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3F87-2658-4A3E-B447-8307D4A3E0CD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8A4333-9379-44A1-8BC2-CC10E1CDA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0392B8-A478-477B-8405-533C974C4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86A87-6FE7-417F-B295-3A58055269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749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075535-4E74-4330-9B60-9F133DAA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98EDDCF-7B76-4A4A-835B-FCF085C7C0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3267CE-124D-476B-B3BA-0F51060CE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158345-78D6-48EC-9278-2AD973F7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3F87-2658-4A3E-B447-8307D4A3E0CD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D98485-8E1B-4978-9C82-BD3D6F534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2615D1-3F83-4CFD-9315-1FB5D4F18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86A87-6FE7-417F-B295-3A58055269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713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5A4679-1E61-427D-89D1-3923D225F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DA00097-A553-4665-B7DB-D013A3C21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13C911-5EBB-4440-BE47-D556B66FA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3F87-2658-4A3E-B447-8307D4A3E0CD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B482D8-826F-48EB-822A-8A039A48F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00E1A5-23A0-4648-B22C-7513DDB25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86A87-6FE7-417F-B295-3A58055269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95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146105A-A0F4-4AE3-A7A0-9EB5F63897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0F30DE-0C82-45E0-912A-6D6661344B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EBAFE8-50FC-44B1-92A7-AD466A02F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3F87-2658-4A3E-B447-8307D4A3E0CD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062AD2-3DD3-4D2D-9FDD-A4A40112E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ADA2B5-F098-42D7-AF3D-20BBD22D0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86A87-6FE7-417F-B295-3A58055269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397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615DBBB-0064-4BA1-A3AE-CF2DAAC7D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E69C80-AD84-4E6D-A8BE-8618B8294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A5BE3D-576F-491D-A369-0B7E993E92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B3F87-2658-4A3E-B447-8307D4A3E0CD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6CE355-15E6-4FBF-B3E1-B91E7D8216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872BFB-5C5A-4209-966C-EDD257B6D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86A87-6FE7-417F-B295-3A58055269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251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file:///C:\Users\smile\AppData\Local\Temp\FocoSlide\cache\img\210726031610.png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file:///C:\Users\smile\AppData\Local\Temp\FocoSlide\cache\img\210726031610.png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file:///C:\Users\smile\AppData\Local\Temp\FocoSlide\cache\img\210726031610.png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>
            <a:extLst>
              <a:ext uri="{FF2B5EF4-FFF2-40B4-BE49-F238E27FC236}">
                <a16:creationId xmlns:a16="http://schemas.microsoft.com/office/drawing/2014/main" id="{6BB01E45-9E8B-4EF8-A2D5-202F23CC2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57619" y="2386259"/>
            <a:ext cx="2085481" cy="208548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7542351-2295-4FCF-9E4D-E5DAFD563BFA}"/>
              </a:ext>
            </a:extLst>
          </p:cNvPr>
          <p:cNvPicPr>
            <a:picLocks/>
          </p:cNvPicPr>
          <p:nvPr/>
        </p:nvPicPr>
        <p:blipFill rotWithShape="1"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149" b="40149"/>
          <a:stretch>
            <a:fillRect/>
          </a:stretch>
        </p:blipFill>
        <p:spPr>
          <a:xfrm>
            <a:off x="3403595" y="1747099"/>
            <a:ext cx="5384801" cy="106759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CF91D70-2929-4D6A-8F50-C8EC85965055}"/>
              </a:ext>
            </a:extLst>
          </p:cNvPr>
          <p:cNvPicPr>
            <a:picLocks/>
          </p:cNvPicPr>
          <p:nvPr/>
        </p:nvPicPr>
        <p:blipFill rotWithShape="1"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149" b="40149"/>
          <a:stretch>
            <a:fillRect/>
          </a:stretch>
        </p:blipFill>
        <p:spPr>
          <a:xfrm rot="10800000">
            <a:off x="3390894" y="3795183"/>
            <a:ext cx="5384801" cy="106759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1E2D816-CACF-4F92-ADF1-6F3D89DEF836}"/>
              </a:ext>
            </a:extLst>
          </p:cNvPr>
          <p:cNvSpPr txBox="1"/>
          <p:nvPr/>
        </p:nvSpPr>
        <p:spPr>
          <a:xfrm>
            <a:off x="1973121" y="2115632"/>
            <a:ext cx="285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284C88-B729-4A80-BB98-957B4C31F83A}"/>
              </a:ext>
            </a:extLst>
          </p:cNvPr>
          <p:cNvSpPr txBox="1"/>
          <p:nvPr/>
        </p:nvSpPr>
        <p:spPr>
          <a:xfrm>
            <a:off x="2258777" y="1845173"/>
            <a:ext cx="341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?</a:t>
            </a:r>
            <a:endParaRPr lang="zh-CN" altLang="en-US" sz="2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8D4558-BF9A-4E9C-ADEA-5E604E314DA7}"/>
              </a:ext>
            </a:extLst>
          </p:cNvPr>
          <p:cNvSpPr txBox="1"/>
          <p:nvPr/>
        </p:nvSpPr>
        <p:spPr>
          <a:xfrm>
            <a:off x="2575261" y="2001595"/>
            <a:ext cx="4090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?</a:t>
            </a:r>
            <a:endParaRPr lang="zh-CN" altLang="en-US" sz="4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E8F132F-60DC-4238-9972-2878BB8E5189}"/>
              </a:ext>
            </a:extLst>
          </p:cNvPr>
          <p:cNvSpPr txBox="1"/>
          <p:nvPr/>
        </p:nvSpPr>
        <p:spPr>
          <a:xfrm>
            <a:off x="5753463" y="1710437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AT</a:t>
            </a:r>
            <a:r>
              <a:rPr lang="zh-CN" altLang="en-US" dirty="0"/>
              <a:t>指令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7FB5E4-AE4A-4CDC-9333-C3FAB1F48ECC}"/>
              </a:ext>
            </a:extLst>
          </p:cNvPr>
          <p:cNvSpPr txBox="1"/>
          <p:nvPr/>
        </p:nvSpPr>
        <p:spPr>
          <a:xfrm>
            <a:off x="5909140" y="4497955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OK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39D46B-4C9A-468A-A93F-7E10E2367233}"/>
              </a:ext>
            </a:extLst>
          </p:cNvPr>
          <p:cNvSpPr txBox="1"/>
          <p:nvPr/>
        </p:nvSpPr>
        <p:spPr>
          <a:xfrm>
            <a:off x="5683116" y="4497955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ERROR!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4" name="Picture 19">
            <a:extLst>
              <a:ext uri="{FF2B5EF4-FFF2-40B4-BE49-F238E27FC236}">
                <a16:creationId xmlns:a16="http://schemas.microsoft.com/office/drawing/2014/main" id="{39C42B2D-29C5-4586-A37F-ECD5005FA0FE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367" y="2355538"/>
            <a:ext cx="2523854" cy="213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6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44444E-6 L -0.31797 0.00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98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0 L -0.29765 0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8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4.07407E-6 L -0.2638 0.00138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190" y="69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1.48148E-6 L -0.26276 0.01875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138" y="926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3.33333E-6 L -0.26198 0.00995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99" y="486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8" grpId="0"/>
      <p:bldP spid="8" grpId="1"/>
      <p:bldP spid="2" grpId="0"/>
      <p:bldP spid="12" grpId="0"/>
      <p:bldP spid="12" grpId="1"/>
      <p:bldP spid="13" grpId="0" build="allAtOnce"/>
      <p:bldP spid="13" grpId="1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5660B03-9D24-4DDD-B77E-F7F6E02EE3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3" t="22249" r="4098" b="22396"/>
          <a:stretch/>
        </p:blipFill>
        <p:spPr>
          <a:xfrm>
            <a:off x="1928812" y="2209490"/>
            <a:ext cx="8334375" cy="3590925"/>
          </a:xfrm>
          <a:prstGeom prst="rect">
            <a:avLst/>
          </a:prstGeom>
        </p:spPr>
      </p:pic>
      <p:pic>
        <p:nvPicPr>
          <p:cNvPr id="15" name="Picture 12">
            <a:extLst>
              <a:ext uri="{FF2B5EF4-FFF2-40B4-BE49-F238E27FC236}">
                <a16:creationId xmlns:a16="http://schemas.microsoft.com/office/drawing/2014/main" id="{DBC8A363-7A21-43BA-988F-4A6E5108F62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03" y="98927"/>
            <a:ext cx="3728301" cy="3018148"/>
          </a:xfrm>
          <a:prstGeom prst="rect">
            <a:avLst/>
          </a:prstGeom>
        </p:spPr>
      </p:pic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313DB68-F41C-4450-A9D9-88E10B929577}"/>
              </a:ext>
            </a:extLst>
          </p:cNvPr>
          <p:cNvCxnSpPr>
            <a:cxnSpLocks/>
          </p:cNvCxnSpPr>
          <p:nvPr/>
        </p:nvCxnSpPr>
        <p:spPr>
          <a:xfrm>
            <a:off x="3091710" y="5684812"/>
            <a:ext cx="0" cy="729029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8775E02-62DD-4559-9033-75D3AB9017C2}"/>
              </a:ext>
            </a:extLst>
          </p:cNvPr>
          <p:cNvCxnSpPr>
            <a:cxnSpLocks/>
          </p:cNvCxnSpPr>
          <p:nvPr/>
        </p:nvCxnSpPr>
        <p:spPr>
          <a:xfrm>
            <a:off x="3063197" y="6404315"/>
            <a:ext cx="5428648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5">
            <a:extLst>
              <a:ext uri="{FF2B5EF4-FFF2-40B4-BE49-F238E27FC236}">
                <a16:creationId xmlns:a16="http://schemas.microsoft.com/office/drawing/2014/main" id="{8367E71C-4B6D-480D-A10A-322E637C15E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970" y="3436656"/>
            <a:ext cx="3327400" cy="2679700"/>
          </a:xfrm>
          <a:prstGeom prst="rect">
            <a:avLst/>
          </a:prstGeom>
        </p:spPr>
      </p:pic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C48654C-CC71-4724-A4EF-0243500A4846}"/>
              </a:ext>
            </a:extLst>
          </p:cNvPr>
          <p:cNvCxnSpPr>
            <a:cxnSpLocks/>
          </p:cNvCxnSpPr>
          <p:nvPr/>
        </p:nvCxnSpPr>
        <p:spPr>
          <a:xfrm flipV="1">
            <a:off x="8463004" y="4913760"/>
            <a:ext cx="0" cy="151200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34" name="Picture 2">
            <a:extLst>
              <a:ext uri="{FF2B5EF4-FFF2-40B4-BE49-F238E27FC236}">
                <a16:creationId xmlns:a16="http://schemas.microsoft.com/office/drawing/2014/main" id="{95268339-42D6-4925-9CDE-327E2E6F3AC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2840" y="3720975"/>
            <a:ext cx="2984500" cy="24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96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22222E-6 L 0.25586 -0.3648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786" y="-1824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60000" y="6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>
            <a:extLst>
              <a:ext uri="{FF2B5EF4-FFF2-40B4-BE49-F238E27FC236}">
                <a16:creationId xmlns:a16="http://schemas.microsoft.com/office/drawing/2014/main" id="{6BB01E45-9E8B-4EF8-A2D5-202F23CC2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396" y="2384900"/>
            <a:ext cx="2085481" cy="208548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7542351-2295-4FCF-9E4D-E5DAFD563BFA}"/>
              </a:ext>
            </a:extLst>
          </p:cNvPr>
          <p:cNvPicPr>
            <a:picLocks/>
          </p:cNvPicPr>
          <p:nvPr/>
        </p:nvPicPr>
        <p:blipFill rotWithShape="1"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149" b="40149"/>
          <a:stretch>
            <a:fillRect/>
          </a:stretch>
        </p:blipFill>
        <p:spPr>
          <a:xfrm>
            <a:off x="3403595" y="1747099"/>
            <a:ext cx="5384801" cy="106759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CF91D70-2929-4D6A-8F50-C8EC85965055}"/>
              </a:ext>
            </a:extLst>
          </p:cNvPr>
          <p:cNvPicPr>
            <a:picLocks/>
          </p:cNvPicPr>
          <p:nvPr/>
        </p:nvPicPr>
        <p:blipFill rotWithShape="1"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149" b="40149"/>
          <a:stretch>
            <a:fillRect/>
          </a:stretch>
        </p:blipFill>
        <p:spPr>
          <a:xfrm rot="10800000">
            <a:off x="3390894" y="3795183"/>
            <a:ext cx="5384801" cy="106759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E8F132F-60DC-4238-9972-2878BB8E5189}"/>
              </a:ext>
            </a:extLst>
          </p:cNvPr>
          <p:cNvSpPr txBox="1"/>
          <p:nvPr/>
        </p:nvSpPr>
        <p:spPr>
          <a:xfrm>
            <a:off x="5638978" y="1718071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AT</a:t>
            </a:r>
            <a:r>
              <a:rPr lang="zh-CN" altLang="en-US" dirty="0"/>
              <a:t>指令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7FB5E4-AE4A-4CDC-9333-C3FAB1F48ECC}"/>
              </a:ext>
            </a:extLst>
          </p:cNvPr>
          <p:cNvSpPr txBox="1"/>
          <p:nvPr/>
        </p:nvSpPr>
        <p:spPr>
          <a:xfrm>
            <a:off x="5839477" y="4495703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OK</a:t>
            </a:r>
            <a:endParaRPr lang="zh-CN" altLang="en-US" dirty="0"/>
          </a:p>
        </p:txBody>
      </p:sp>
      <p:pic>
        <p:nvPicPr>
          <p:cNvPr id="14" name="Picture 19">
            <a:extLst>
              <a:ext uri="{FF2B5EF4-FFF2-40B4-BE49-F238E27FC236}">
                <a16:creationId xmlns:a16="http://schemas.microsoft.com/office/drawing/2014/main" id="{39C42B2D-29C5-4586-A37F-ECD5005FA0FE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142" y="2430711"/>
            <a:ext cx="2523854" cy="213791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1BE0F90-C0C8-4255-93CD-E63819D667E0}"/>
              </a:ext>
            </a:extLst>
          </p:cNvPr>
          <p:cNvSpPr txBox="1"/>
          <p:nvPr/>
        </p:nvSpPr>
        <p:spPr>
          <a:xfrm>
            <a:off x="5638978" y="1069488"/>
            <a:ext cx="33009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b="0" i="1" dirty="0">
                <a:solidFill>
                  <a:srgbClr val="404040"/>
                </a:solidFill>
                <a:effectLst/>
                <a:latin typeface="HelveticaNeue-LightItalic"/>
              </a:rPr>
              <a:t>AT 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PingFangSC-Light-Identity-H"/>
              </a:rPr>
              <a:t>指令</a:t>
            </a:r>
            <a:r>
              <a:rPr lang="zh-CN" altLang="en-US" sz="1800" b="0" i="0">
                <a:solidFill>
                  <a:srgbClr val="404040"/>
                </a:solidFill>
                <a:effectLst/>
                <a:latin typeface="PingFangSC-Light-Identity-H"/>
              </a:rPr>
              <a:t>必须大写</a:t>
            </a:r>
            <a:endParaRPr lang="en-US" altLang="zh-CN" sz="1800" b="0" i="0" dirty="0">
              <a:solidFill>
                <a:srgbClr val="404040"/>
              </a:solidFill>
              <a:effectLst/>
              <a:latin typeface="PingFangSC-Light-Identity-H"/>
            </a:endParaRPr>
          </a:p>
          <a:p>
            <a:r>
              <a:rPr lang="zh-CN" altLang="en-US" sz="1800" b="0" i="0" dirty="0">
                <a:solidFill>
                  <a:srgbClr val="404040"/>
                </a:solidFill>
                <a:effectLst/>
                <a:latin typeface="PingFangSC-Light-Identity-H"/>
              </a:rPr>
              <a:t>并且以回车换行符结尾</a:t>
            </a:r>
            <a:r>
              <a:rPr lang="en-US" altLang="zh-CN" sz="1800" b="0" i="0" dirty="0">
                <a:solidFill>
                  <a:srgbClr val="404040"/>
                </a:solidFill>
                <a:effectLst/>
                <a:latin typeface="PingFangSC-Light-Identity-H"/>
              </a:rPr>
              <a:t>(</a:t>
            </a:r>
            <a:r>
              <a:rPr lang="en-US" altLang="zh-CN" sz="1800" b="0" i="1" dirty="0">
                <a:solidFill>
                  <a:srgbClr val="404040"/>
                </a:solidFill>
                <a:effectLst/>
                <a:latin typeface="HelveticaNeue-LightItalic"/>
              </a:rPr>
              <a:t>CR LF</a:t>
            </a:r>
            <a:r>
              <a:rPr lang="en-US" altLang="zh-CN" dirty="0">
                <a:solidFill>
                  <a:srgbClr val="404040"/>
                </a:solidFill>
                <a:latin typeface="PingFangSC-Light-Identity-H"/>
              </a:rPr>
              <a:t>)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77061F-A42A-4C01-8BFF-BEA2A73C082B}"/>
              </a:ext>
            </a:extLst>
          </p:cNvPr>
          <p:cNvSpPr txBox="1"/>
          <p:nvPr/>
        </p:nvSpPr>
        <p:spPr>
          <a:xfrm>
            <a:off x="4877294" y="3242975"/>
            <a:ext cx="2437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b="0" i="0" dirty="0">
                <a:solidFill>
                  <a:srgbClr val="404040"/>
                </a:solidFill>
                <a:effectLst/>
                <a:latin typeface="PingFangSC-Light-Identity-H"/>
              </a:rPr>
              <a:t>默认波特率为 </a:t>
            </a:r>
            <a:r>
              <a:rPr lang="en-US" altLang="zh-CN" sz="1800" b="0" i="1" dirty="0">
                <a:solidFill>
                  <a:srgbClr val="404040"/>
                </a:solidFill>
                <a:effectLst/>
                <a:latin typeface="HelveticaNeue-LightItalic"/>
              </a:rPr>
              <a:t>115200</a:t>
            </a:r>
            <a:r>
              <a:rPr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6319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DF73082F-5E29-4102-9472-7430A6E220D9}"/>
              </a:ext>
            </a:extLst>
          </p:cNvPr>
          <p:cNvGrpSpPr/>
          <p:nvPr/>
        </p:nvGrpSpPr>
        <p:grpSpPr>
          <a:xfrm>
            <a:off x="1162780" y="1343447"/>
            <a:ext cx="9866437" cy="4142078"/>
            <a:chOff x="1162780" y="1343447"/>
            <a:chExt cx="9866437" cy="4142078"/>
          </a:xfrm>
        </p:grpSpPr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6BB01E45-9E8B-4EF8-A2D5-202F23CC2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43736" y="2386257"/>
              <a:ext cx="2085481" cy="2085481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07542351-2295-4FCF-9E4D-E5DAFD563BFA}"/>
                </a:ext>
              </a:extLst>
            </p:cNvPr>
            <p:cNvPicPr>
              <a:picLocks/>
            </p:cNvPicPr>
            <p:nvPr/>
          </p:nvPicPr>
          <p:blipFill rotWithShape="1">
            <a:blip r:embed="rId4" r:link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0149" b="40149"/>
            <a:stretch>
              <a:fillRect/>
            </a:stretch>
          </p:blipFill>
          <p:spPr>
            <a:xfrm>
              <a:off x="3403598" y="1852458"/>
              <a:ext cx="5384801" cy="1067599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BCF91D70-2929-4D6A-8F50-C8EC85965055}"/>
                </a:ext>
              </a:extLst>
            </p:cNvPr>
            <p:cNvPicPr>
              <a:picLocks/>
            </p:cNvPicPr>
            <p:nvPr/>
          </p:nvPicPr>
          <p:blipFill rotWithShape="1">
            <a:blip r:embed="rId4" r:link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0149" b="40149"/>
            <a:stretch>
              <a:fillRect/>
            </a:stretch>
          </p:blipFill>
          <p:spPr>
            <a:xfrm rot="10800000">
              <a:off x="3403598" y="3937939"/>
              <a:ext cx="5384801" cy="1067599"/>
            </a:xfrm>
            <a:prstGeom prst="rect">
              <a:avLst/>
            </a:prstGeom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8E8F132F-60DC-4238-9972-2878BB8E5189}"/>
                </a:ext>
              </a:extLst>
            </p:cNvPr>
            <p:cNvSpPr txBox="1"/>
            <p:nvPr/>
          </p:nvSpPr>
          <p:spPr>
            <a:xfrm>
              <a:off x="5638983" y="1343447"/>
              <a:ext cx="9140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AT</a:t>
              </a:r>
              <a:r>
                <a:rPr lang="zh-CN" altLang="en-US" dirty="0"/>
                <a:t>指令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7FB5E4-AE4A-4CDC-9333-C3FAB1F48ECC}"/>
                </a:ext>
              </a:extLst>
            </p:cNvPr>
            <p:cNvSpPr txBox="1"/>
            <p:nvPr/>
          </p:nvSpPr>
          <p:spPr>
            <a:xfrm>
              <a:off x="5852182" y="5116193"/>
              <a:ext cx="4876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OK</a:t>
              </a:r>
              <a:endParaRPr lang="zh-CN" altLang="en-US" dirty="0"/>
            </a:p>
          </p:txBody>
        </p:sp>
        <p:pic>
          <p:nvPicPr>
            <p:cNvPr id="14" name="Picture 19">
              <a:extLst>
                <a:ext uri="{FF2B5EF4-FFF2-40B4-BE49-F238E27FC236}">
                  <a16:creationId xmlns:a16="http://schemas.microsoft.com/office/drawing/2014/main" id="{39C42B2D-29C5-4586-A37F-ECD5005FA0FE}"/>
                </a:ext>
              </a:extLst>
            </p:cNvPr>
            <p:cNvPicPr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2780" y="2546372"/>
              <a:ext cx="2523854" cy="21379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07565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81481E-6 L 0.25951 -0.2796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69" y="-1398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49216B5-0037-43D9-BE38-689E84C71475}"/>
              </a:ext>
            </a:extLst>
          </p:cNvPr>
          <p:cNvSpPr txBox="1"/>
          <p:nvPr/>
        </p:nvSpPr>
        <p:spPr>
          <a:xfrm>
            <a:off x="2271562" y="3547749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 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Windows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下编写的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Shell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脚本，直接放到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linux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/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unix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下执行会报错，就是因为行结束符不一样导致的。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7F5DB1-419C-4F5C-8560-AFAA912B48FB}"/>
              </a:ext>
            </a:extLst>
          </p:cNvPr>
          <p:cNvSpPr txBox="1"/>
          <p:nvPr/>
        </p:nvSpPr>
        <p:spPr>
          <a:xfrm>
            <a:off x="2271562" y="1330124"/>
            <a:ext cx="3398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/>
              <a:t>CR</a:t>
            </a:r>
            <a:r>
              <a:rPr lang="zh-CN" altLang="en-US" dirty="0"/>
              <a:t>（</a:t>
            </a:r>
            <a:r>
              <a:rPr lang="en-US" altLang="zh-CN" dirty="0"/>
              <a:t>Carriage Return</a:t>
            </a:r>
            <a:r>
              <a:rPr lang="zh-CN" altLang="en-US" dirty="0"/>
              <a:t>）表示回车</a:t>
            </a:r>
          </a:p>
          <a:p>
            <a:pPr algn="l"/>
            <a:r>
              <a:rPr lang="en-US" altLang="zh-CN" dirty="0"/>
              <a:t>LF</a:t>
            </a:r>
            <a:r>
              <a:rPr lang="zh-CN" altLang="en-US" dirty="0"/>
              <a:t>（</a:t>
            </a:r>
            <a:r>
              <a:rPr lang="en-US" altLang="zh-CN" dirty="0"/>
              <a:t>Line Feed</a:t>
            </a:r>
            <a:r>
              <a:rPr lang="zh-CN" altLang="en-US" dirty="0"/>
              <a:t>）表示换行 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2904F3F-AE07-4EEB-8BF8-0352B24125BC}"/>
              </a:ext>
            </a:extLst>
          </p:cNvPr>
          <p:cNvSpPr txBox="1"/>
          <p:nvPr/>
        </p:nvSpPr>
        <p:spPr>
          <a:xfrm>
            <a:off x="2271562" y="2300437"/>
            <a:ext cx="56348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Dos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Windows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采用回车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+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换行（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CR+LF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）表示下一行</a:t>
            </a:r>
            <a:br>
              <a:rPr lang="zh-CN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</a:br>
            <a:r>
              <a:rPr lang="zh-CN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UNIX/</a:t>
            </a:r>
            <a:r>
              <a:rPr lang="en-US" altLang="zh-CN" dirty="0"/>
              <a:t>Linux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采用换行符（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LF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）表示下一行</a:t>
            </a:r>
            <a:br>
              <a:rPr lang="zh-CN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</a:br>
            <a:r>
              <a:rPr lang="en-US" altLang="zh-CN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MAC OS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系统采用回车符（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CR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）表示下一行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1ACE1D-7255-4F4A-BC25-571A09A9DA25}"/>
              </a:ext>
            </a:extLst>
          </p:cNvPr>
          <p:cNvSpPr txBox="1"/>
          <p:nvPr/>
        </p:nvSpPr>
        <p:spPr>
          <a:xfrm>
            <a:off x="2271562" y="4604546"/>
            <a:ext cx="20104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\r     </a:t>
            </a:r>
            <a:r>
              <a:rPr lang="zh-CN" altLang="en-US" dirty="0"/>
              <a:t>表示是回车</a:t>
            </a:r>
            <a:endParaRPr lang="en-US" altLang="zh-CN" dirty="0"/>
          </a:p>
          <a:p>
            <a:r>
              <a:rPr lang="en-US" altLang="zh-CN" dirty="0"/>
              <a:t>\n    </a:t>
            </a:r>
            <a:r>
              <a:rPr lang="zh-CN" altLang="en-US" dirty="0"/>
              <a:t>表示是换行</a:t>
            </a:r>
            <a:endParaRPr lang="en-US" altLang="zh-CN" dirty="0"/>
          </a:p>
          <a:p>
            <a:r>
              <a:rPr lang="en-US" altLang="zh-CN" dirty="0"/>
              <a:t>\r\n </a:t>
            </a:r>
            <a:r>
              <a:rPr lang="zh-CN" altLang="en-US" dirty="0"/>
              <a:t>表示回车换行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C304EE0F-82A9-4830-91FC-73092247A01C}"/>
              </a:ext>
            </a:extLst>
          </p:cNvPr>
          <p:cNvSpPr/>
          <p:nvPr/>
        </p:nvSpPr>
        <p:spPr>
          <a:xfrm>
            <a:off x="8984343" y="1330124"/>
            <a:ext cx="2641600" cy="28012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B058BB5-8D07-4097-9E24-F194BD467B05}"/>
              </a:ext>
            </a:extLst>
          </p:cNvPr>
          <p:cNvSpPr txBox="1"/>
          <p:nvPr/>
        </p:nvSpPr>
        <p:spPr>
          <a:xfrm>
            <a:off x="9409705" y="2169163"/>
            <a:ext cx="45236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AT</a:t>
            </a:r>
          </a:p>
          <a:p>
            <a:r>
              <a:rPr lang="en-US" altLang="zh-CN" dirty="0"/>
              <a:t>AT</a:t>
            </a:r>
          </a:p>
          <a:p>
            <a:r>
              <a:rPr lang="en-US" altLang="zh-CN" dirty="0"/>
              <a:t>AT</a:t>
            </a:r>
          </a:p>
          <a:p>
            <a:r>
              <a:rPr lang="en-US" altLang="zh-CN" dirty="0"/>
              <a:t>AT</a:t>
            </a:r>
          </a:p>
          <a:p>
            <a:r>
              <a:rPr lang="en-US" altLang="zh-CN" dirty="0"/>
              <a:t>AT</a:t>
            </a:r>
          </a:p>
          <a:p>
            <a:r>
              <a:rPr lang="en-US" altLang="zh-CN" dirty="0"/>
              <a:t>AT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04FC8B2-91AC-4917-9670-7E0A78560BBA}"/>
              </a:ext>
            </a:extLst>
          </p:cNvPr>
          <p:cNvSpPr txBox="1"/>
          <p:nvPr/>
        </p:nvSpPr>
        <p:spPr>
          <a:xfrm>
            <a:off x="9409705" y="1686114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ATATATATATAT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691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3" grpId="0" animBg="1"/>
      <p:bldP spid="10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BACDE8C-FC01-46E7-B9F7-00C6A03D6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714" y="2314714"/>
            <a:ext cx="9228571" cy="222857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69221EF-6CC1-4F16-8941-5AC260894215}"/>
              </a:ext>
            </a:extLst>
          </p:cNvPr>
          <p:cNvSpPr txBox="1"/>
          <p:nvPr/>
        </p:nvSpPr>
        <p:spPr>
          <a:xfrm>
            <a:off x="1481714" y="1788348"/>
            <a:ext cx="32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0" i="0" dirty="0">
                <a:solidFill>
                  <a:srgbClr val="404040"/>
                </a:solidFill>
                <a:effectLst/>
                <a:latin typeface="HelveticaNeue-Light"/>
              </a:rPr>
              <a:t>AT 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PingFangSC-Light-Identity-H"/>
              </a:rPr>
              <a:t>指令可以细分为四种类型：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4093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2990</TotalTime>
  <Words>148</Words>
  <Application>Microsoft Office PowerPoint</Application>
  <PresentationFormat>宽屏</PresentationFormat>
  <Paragraphs>28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HelveticaNeue-Light</vt:lpstr>
      <vt:lpstr>HelveticaNeue-LightItalic</vt:lpstr>
      <vt:lpstr>PingFangSC-Light-Identity-H</vt:lpstr>
      <vt:lpstr>等线</vt:lpstr>
      <vt:lpstr>等线 Light</vt:lpstr>
      <vt:lpstr>Arial</vt:lpstr>
      <vt:lpstr>Helvetica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 Yobe</dc:creator>
  <cp:lastModifiedBy>Zhou Yobe</cp:lastModifiedBy>
  <cp:revision>25</cp:revision>
  <dcterms:created xsi:type="dcterms:W3CDTF">2021-07-29T09:27:54Z</dcterms:created>
  <dcterms:modified xsi:type="dcterms:W3CDTF">2021-09-14T09:27:17Z</dcterms:modified>
</cp:coreProperties>
</file>